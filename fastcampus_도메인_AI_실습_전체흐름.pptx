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109ace2f104e76" /><Relationship Type="http://schemas.openxmlformats.org/officeDocument/2006/relationships/extended-properties" Target="/docProps/app.xml" Id="Rd8dadf4caa524510" /><Relationship Type="http://schemas.openxmlformats.org/officeDocument/2006/relationships/officeDocument" Target="/ppt/presentation.xml" Id="R3e78ba9dd2fb4f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b69c2a29094ceb"/>
  </p:sldMasterIdLst>
  <p:notesMasterIdLst>
    <p:notesMasterId xmlns:r="http://schemas.openxmlformats.org/officeDocument/2006/relationships" r:id="R09ed00b35ae04da7"/>
  </p:notesMasterIdLst>
  <p:sldIdLst>
    <p:sldId xmlns:r="http://schemas.openxmlformats.org/officeDocument/2006/relationships" id="256" r:id="Rbc530e4a9e8d43a2"/>
    <p:sldId xmlns:r="http://schemas.openxmlformats.org/officeDocument/2006/relationships" id="257" r:id="R97e956126cab435d"/>
    <p:sldId xmlns:r="http://schemas.openxmlformats.org/officeDocument/2006/relationships" id="258" r:id="R130295774340479e"/>
    <p:sldId xmlns:r="http://schemas.openxmlformats.org/officeDocument/2006/relationships" id="259" r:id="R34a163f9c9b548de"/>
    <p:sldId xmlns:r="http://schemas.openxmlformats.org/officeDocument/2006/relationships" id="260" r:id="R87e2ef88298e42c9"/>
    <p:sldId xmlns:r="http://schemas.openxmlformats.org/officeDocument/2006/relationships" id="261" r:id="R063da00a8e3442c5"/>
    <p:sldId xmlns:r="http://schemas.openxmlformats.org/officeDocument/2006/relationships" id="262" r:id="R39f5fe5cf85a4772"/>
    <p:sldId xmlns:r="http://schemas.openxmlformats.org/officeDocument/2006/relationships" id="263" r:id="R3d20ba471c184eef"/>
    <p:sldId xmlns:r="http://schemas.openxmlformats.org/officeDocument/2006/relationships" id="264" r:id="Rff7e99e378c14be8"/>
    <p:sldId xmlns:r="http://schemas.openxmlformats.org/officeDocument/2006/relationships" id="265" r:id="R76acf144e12445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39f7ec35d94c22" /><Relationship Type="http://schemas.openxmlformats.org/officeDocument/2006/relationships/slideMaster" Target="/ppt/slideMasters/slideMaster1.xml" Id="Rcab69c2a29094ceb" /><Relationship Type="http://schemas.openxmlformats.org/officeDocument/2006/relationships/notesMaster" Target="/ppt/notesMasters/notesMaster1.xml" Id="R09ed00b35ae04da7" /><Relationship Type="http://schemas.openxmlformats.org/officeDocument/2006/relationships/presProps" Target="/ppt/presProps.xml" Id="R895ce81ad0e446eb" /><Relationship Type="http://schemas.openxmlformats.org/officeDocument/2006/relationships/tableStyles" Target="/ppt/tableStyles.xml" Id="R1204f90f23054f4c" /><Relationship Type="http://schemas.openxmlformats.org/officeDocument/2006/relationships/slide" Target="/ppt/slides/slide1.xml" Id="Rbc530e4a9e8d43a2" /><Relationship Type="http://schemas.openxmlformats.org/officeDocument/2006/relationships/slide" Target="/ppt/slides/slide2.xml" Id="R97e956126cab435d" /><Relationship Type="http://schemas.openxmlformats.org/officeDocument/2006/relationships/slide" Target="/ppt/slides/slide3.xml" Id="R130295774340479e" /><Relationship Type="http://schemas.openxmlformats.org/officeDocument/2006/relationships/slide" Target="/ppt/slides/slide4.xml" Id="R34a163f9c9b548de" /><Relationship Type="http://schemas.openxmlformats.org/officeDocument/2006/relationships/slide" Target="/ppt/slides/slide5.xml" Id="R87e2ef88298e42c9" /><Relationship Type="http://schemas.openxmlformats.org/officeDocument/2006/relationships/slide" Target="/ppt/slides/slide6.xml" Id="R063da00a8e3442c5" /><Relationship Type="http://schemas.openxmlformats.org/officeDocument/2006/relationships/slide" Target="/ppt/slides/slide7.xml" Id="R39f5fe5cf85a4772" /><Relationship Type="http://schemas.openxmlformats.org/officeDocument/2006/relationships/slide" Target="/ppt/slides/slide8.xml" Id="R3d20ba471c184eef" /><Relationship Type="http://schemas.openxmlformats.org/officeDocument/2006/relationships/slide" Target="/ppt/slides/slide9.xml" Id="Rff7e99e378c14be8" /><Relationship Type="http://schemas.openxmlformats.org/officeDocument/2006/relationships/slide" Target="/ppt/slides/slide10.xml" Id="R76acf144e124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3168e70034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45b3b8986a4d06" /><Relationship Type="http://schemas.openxmlformats.org/officeDocument/2006/relationships/notesMaster" Target="/ppt/notesMasters/notesMaster1.xml" Id="R34a1cea1b1ca49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905cd755ee4cd7" /><Relationship Type="http://schemas.openxmlformats.org/officeDocument/2006/relationships/notesMaster" Target="/ppt/notesMasters/notesMaster1.xml" Id="R0a748ea38c554f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b135e3e0d94379" /><Relationship Type="http://schemas.openxmlformats.org/officeDocument/2006/relationships/notesMaster" Target="/ppt/notesMasters/notesMaster1.xml" Id="R019e02ff203a47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6d7f2eb0d949fe" /><Relationship Type="http://schemas.openxmlformats.org/officeDocument/2006/relationships/notesMaster" Target="/ppt/notesMasters/notesMaster1.xml" Id="Rbd49c96c8aa041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46348698c94da8" /><Relationship Type="http://schemas.openxmlformats.org/officeDocument/2006/relationships/notesMaster" Target="/ppt/notesMasters/notesMaster1.xml" Id="Rd9f58f3f490c4d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f065eb9ba489f" /><Relationship Type="http://schemas.openxmlformats.org/officeDocument/2006/relationships/notesMaster" Target="/ppt/notesMasters/notesMaster1.xml" Id="R460c31ef634444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5ce6b53a2047c8" /><Relationship Type="http://schemas.openxmlformats.org/officeDocument/2006/relationships/notesMaster" Target="/ppt/notesMasters/notesMaster1.xml" Id="Rfaa86c97a0944f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5ae04e944946c6" /><Relationship Type="http://schemas.openxmlformats.org/officeDocument/2006/relationships/notesMaster" Target="/ppt/notesMasters/notesMaster1.xml" Id="Rc91a2f5e6fec49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31aa095e694d48" /><Relationship Type="http://schemas.openxmlformats.org/officeDocument/2006/relationships/notesMaster" Target="/ppt/notesMasters/notesMaster1.xml" Id="Rbcfba12a37f640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0436ddca364098" /><Relationship Type="http://schemas.openxmlformats.org/officeDocument/2006/relationships/notesMaster" Target="/ppt/notesMasters/notesMaster1.xml" Id="Rd51fc7a0be4448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e5c97a8bb4d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508913d75d4a7d" /><Relationship Type="http://schemas.openxmlformats.org/officeDocument/2006/relationships/slideLayout" Target="/ppt/slideLayouts/slideLayout1.xml" Id="R73a64efce8cf48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64efce8cf48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152f87f4440f0" /><Relationship Type="http://schemas.openxmlformats.org/officeDocument/2006/relationships/notesSlide" Target="/ppt/notesSlides/notesSlide1.xml" Id="Rc9e3d4437d6a4f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d8d8bef274a7c" /><Relationship Type="http://schemas.openxmlformats.org/officeDocument/2006/relationships/notesSlide" Target="/ppt/notesSlides/notesSlide2.xml" Id="Rced375b6b85442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a8a938e914059" /><Relationship Type="http://schemas.openxmlformats.org/officeDocument/2006/relationships/notesSlide" Target="/ppt/notesSlides/notesSlide3.xml" Id="Rcc393c3d17884c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cab2f61c043ff" /><Relationship Type="http://schemas.openxmlformats.org/officeDocument/2006/relationships/notesSlide" Target="/ppt/notesSlides/notesSlide4.xml" Id="Ra9e88b6a568447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ecd5d2c7e444a" /><Relationship Type="http://schemas.openxmlformats.org/officeDocument/2006/relationships/notesSlide" Target="/ppt/notesSlides/notesSlide5.xml" Id="Rd31e77b1fc1640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7e8e243664c56" /><Relationship Type="http://schemas.openxmlformats.org/officeDocument/2006/relationships/notesSlide" Target="/ppt/notesSlides/notesSlide6.xml" Id="R94c3e4884e674c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4ccbc5ac84c2f" /><Relationship Type="http://schemas.openxmlformats.org/officeDocument/2006/relationships/notesSlide" Target="/ppt/notesSlides/notesSlide7.xml" Id="Rad9a5f62c58240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a27cbe4b74209" /><Relationship Type="http://schemas.openxmlformats.org/officeDocument/2006/relationships/notesSlide" Target="/ppt/notesSlides/notesSlide8.xml" Id="R862deba2815949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b1641ee4c4792" /><Relationship Type="http://schemas.openxmlformats.org/officeDocument/2006/relationships/notesSlide" Target="/ppt/notesSlides/notesSlide9.xml" Id="Raa3248a50ae948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997a5a1614c82" /><Relationship Type="http://schemas.openxmlformats.org/officeDocument/2006/relationships/notesSlide" Target="/ppt/notesSlides/notesSlide10.xml" Id="Re69077f9cf9547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1BF28-F11B-44AB-9CB7-C9EE1858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72033"/>
                </a:solidFill>
              </a:defRPr>
            </a:pPr>
            <a:r>
              <a:rPr sz="4200" b="1">
                <a:solidFill>
                  <a:srgbClr val="172033"/>
                </a:solidFill>
              </a:rPr>
              <a:t>도메인 AI 에이전트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5749A-FA11-49DC-BE56-56972BE5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36174"/>
                </a:solidFill>
              </a:defRPr>
            </a:pPr>
            <a:r>
              <a:rPr sz="1950" b="0">
                <a:solidFill>
                  <a:srgbClr val="536174"/>
                </a:solidFill>
              </a:rPr>
              <a:t>8개 노트북을 하나의 흐름으로 이해하는 빠른 안내서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632E4-9A0B-4336-91EB-0348162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67A82-7E61-4CDD-832C-1FCDCB9A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576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표현 학습 → 검색 → 도구 사용 → 협업 → 안전 → 통합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6A8CA-633F-417C-A95F-9658F58E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435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74"/>
                </a:solidFill>
              </a:defRPr>
            </a:pPr>
            <a:r>
              <a:rPr sz="1350" b="0">
                <a:solidFill>
                  <a:srgbClr val="536174"/>
                </a:solidFill>
              </a:rPr>
              <a:t>실습 전 10분 오리엔테이션</a:t>
            </a:r>
          </a:p>
        </p:txBody>
      </p:sp>
    </p:spTree>
    <p:extLst>
      <p:ext uri="{BB962C8B-B14F-4D97-AF65-F5344CB8AC3E}">
        <p14:creationId xmlns:p14="http://schemas.microsoft.com/office/powerpoint/2010/main" val="1070144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12D38-880C-48EF-895C-50832706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8개 실습은 점점 더 큰 시스템을 만듭니다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8D47D-7BA6-4457-9909-DAB745C9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087C5-33FD-479D-B75B-E39F7FE6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E58A3-34CF-4A0F-89D1-378EB75D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7C9FA-A7BB-4ED7-9372-65C4DA0D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01</a:t>
            </a:r>
          </a:p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임베딩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D569D-2284-433D-A0E1-74348DDF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669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A556C-A664-4218-8EBE-EC09CE66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1925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A8523-0FE2-46E3-8A7C-7A6093D8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762125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02</a:t>
            </a:r>
          </a:p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언어 모델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E7909-4229-48CE-B772-17361D3A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669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A3FC2-353B-4B2D-BC35-3C464CF9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D75BF-6D23-4B96-9200-2D53090A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03</a:t>
            </a:r>
          </a:p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E30F5-11AC-4370-A631-F04AF85C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669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14AB5-B81C-4306-9871-FC7C1950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111B1-1151-45B9-B0DC-D28F79D2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62125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04</a:t>
            </a:r>
          </a:p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단일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EF585-9C63-41FA-BB29-D56E172B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FB0F5-4C8E-4737-B574-78A733A5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05</a:t>
            </a:r>
          </a:p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멀티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953BC-3B23-4019-AE63-7A8F8DBF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624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28ECC-BE50-40F6-A5C3-73609F30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475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AB9F9-9DB4-49C1-9AB9-DD185190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57625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06</a:t>
            </a:r>
          </a:p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프레임워크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7B6F0-FF00-4531-8ECB-D52DDF68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624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2CCD5-0CAE-404C-BC98-9ABC4702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10CA8-6AD6-4214-80CE-2A539E77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57625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07</a:t>
            </a:r>
          </a:p>
          <a:p xmlns:a="http://schemas.openxmlformats.org/drawingml/2006/main">
            <a:pPr algn="ctr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가드레일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820FD-346D-4C57-9CEE-653C747A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624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93D0A-FD48-4276-A907-171918FE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8CC60-C400-4E80-9943-F075130B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57625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08</a:t>
            </a:r>
          </a:p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통합 시스템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6AB84-8615-401C-8288-466F6793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174"/>
                </a:solidFill>
              </a:defRPr>
            </a:pPr>
            <a:r>
              <a:rPr sz="1500" b="0">
                <a:solidFill>
                  <a:srgbClr val="536174"/>
                </a:solidFill>
              </a:rPr>
              <a:t>앞 실습의 개념을 뒤 실습에서 다시 사용합니다. 막히면 바로 이전 단계로 돌아가세요.</a:t>
            </a:r>
          </a:p>
        </p:txBody>
      </p:sp>
    </p:spTree>
    <p:extLst>
      <p:ext uri="{BB962C8B-B14F-4D97-AF65-F5344CB8AC3E}">
        <p14:creationId xmlns:p14="http://schemas.microsoft.com/office/powerpoint/2010/main" val="17437478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97D97-77A9-45B9-A9E1-F17D4E7D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01와 02: 표현을 만들고 태스크에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160D6-C957-45D5-8047-345F4289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A132A-4ADE-4497-AF34-A7AF0989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77F91-FB05-4741-8642-B692631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1435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5C45E-C571-4AF2-9C64-304EC936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716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91C0C-815A-4543-A5A8-43ABBA6E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워드 임베딩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FB900-69C0-471E-84A2-3F8D1189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단어의 의미를 숫자로 어떻게 표현할까요?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0FB3A-D906-4154-B357-68D287C6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</a:defRPr>
            </a:pPr>
            <a:r>
              <a:rPr sz="1500" b="1">
                <a:solidFill>
                  <a:srgbClr val="15803D"/>
                </a:solidFill>
              </a:rPr>
              <a:t>핵심 관찰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FB34C-C338-4646-9286-4534727E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A3591-76C9-43BB-98DE-C3282443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CBOW·Skip-gram·FastText 결과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FB9F4-ADD4-4F33-9C3A-C925B689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389ED-BC13-4917-A8ED-1A95E81A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338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유사도와 t-SNE를 탐색 도구로 해석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0DA32-3924-4222-85EF-AC1BF99D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완료 신호  |  비슷한 단어가 왜 가까운지 설명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50218-65EA-4517-8886-FC69C930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1435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C8150-139C-4D52-91A1-C22D860A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716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6280B-1D4F-49CB-B845-074720F9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사전학습 언어 모델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351FA-0525-409A-8807-407A247E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같은 모델도 과제에 따라 사용법이 달라집니다.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DD121-4715-48B1-BE1F-48D23FC4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</a:defRPr>
            </a:pPr>
            <a:r>
              <a:rPr sz="1500" b="1">
                <a:solidFill>
                  <a:srgbClr val="15803D"/>
                </a:solidFill>
              </a:rPr>
              <a:t>핵심 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BCD39-25C2-424A-B1E2-D9A9FBD4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9E072-686D-4408-86E8-4C309AD2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토크나이저와 입력 텐서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66E24-5BD0-416F-ACAC-FEE0CA38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338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ECF5F-4974-4187-9A13-1B64E8F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338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분류·QA·번역·생성의 차이 체험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F2222-8D51-4FD9-94D7-46063F79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95875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완료 신호  |  모델 종류와 태스크를 연결</a:t>
            </a:r>
          </a:p>
        </p:txBody>
      </p:sp>
    </p:spTree>
    <p:extLst>
      <p:ext uri="{BB962C8B-B14F-4D97-AF65-F5344CB8AC3E}">
        <p14:creationId xmlns:p14="http://schemas.microsoft.com/office/powerpoint/2010/main" val="366969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6888C-0627-4C68-AF84-BA9A2C77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03와 04: 근거를 찾고 도구로 행동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3879D-EA4C-42F9-96BF-5D6C2026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06532-3B79-4A20-BED0-BA2AE178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0C02D-339E-4F49-ADAA-067A2426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1435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F1F32-38FE-4880-A561-3C2D40E3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716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30B19-4803-4B91-A4F9-F93858DD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72541-0142-4253-B502-7F793F9C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모델이 외부 문서를 근거로 답하게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0F951-CA66-4F7A-8B55-A689573D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</a:defRPr>
            </a:pPr>
            <a:r>
              <a:rPr sz="1500" b="1">
                <a:solidFill>
                  <a:srgbClr val="15803D"/>
                </a:solidFill>
              </a:rPr>
              <a:t>핵심 관찰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8E512-06BB-4517-9766-93025BF1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58CCB-31AF-48FF-910F-CCD0DC6D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청킹→색인→검색→리랭킹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F89A9-21AD-4373-AE25-D80FF078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4847A-E25F-4CA7-B015-17E94317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338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Vector·BM25·Hybrid 검색 평가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882D6-8400-4516-AA05-6A7F954E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완료 신호  |  P@k·R@k·MRR을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65405-668E-420C-8FD7-53036E3B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1435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68761-9E60-4624-9DA3-57CF83E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716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9A2F2-A1B2-441B-8D90-9E5A9424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단일 에이전트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FFE15-08B8-45FA-8666-B05DB882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모델이 도구를 고르고 결과를 관찰합니다.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BDFC4-1CA1-4BDF-8890-A77AB109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</a:defRPr>
            </a:pPr>
            <a:r>
              <a:rPr sz="1500" b="1">
                <a:solidFill>
                  <a:srgbClr val="15803D"/>
                </a:solidFill>
              </a:rPr>
              <a:t>핵심 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2A4E1-4E11-40CD-9E77-4303F7A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408297-7183-49DC-BAFF-489C3D8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Thought→Action→Observation 루프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5B959-970B-4539-9470-895CD656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338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7661E-7C91-4B82-8159-E1EE660D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338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도구 명세·입력 검증·trace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3CA23F-6100-41DD-ABEB-30B0A504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95875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완료 신호  |  도구 선택과 실행 경계를 설명</a:t>
            </a:r>
          </a:p>
        </p:txBody>
      </p:sp>
    </p:spTree>
    <p:extLst>
      <p:ext uri="{BB962C8B-B14F-4D97-AF65-F5344CB8AC3E}">
        <p14:creationId xmlns:p14="http://schemas.microsoft.com/office/powerpoint/2010/main" val="1242063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9E1AD-82C6-45E5-B1E3-DD8E3F89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05와 06: 협업 구조와 구현 도구를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8DE6C-97FD-44B4-BD6B-AABCCE75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4E7FD-9C40-47ED-B03E-452E88F5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FBB14-31B1-424F-8DDD-0DAA20AD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1435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2383A-EDED-4713-B6DF-EA3CB62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716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FD419-55E0-4B3E-B335-7FB77A2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멀티 에이전트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E56D6-1E8C-4750-A96A-2CFC906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여러 역할이 정보를 어떻게 나눌까요?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75F46-44C6-4853-9CCE-0EBDFED5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</a:defRPr>
            </a:pPr>
            <a:r>
              <a:rPr sz="1500" b="1">
                <a:solidFill>
                  <a:srgbClr val="15803D"/>
                </a:solidFill>
              </a:rPr>
              <a:t>핵심 관찰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3464C-1159-4EC5-AFE4-72DA4A4F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E0872-F604-4A8E-B1F7-0F8E2315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Shared Memory와 Manager–Worker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C77BE-BB0B-4B37-83CD-30280B1D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C9C49-B107-4DD0-BE2A-A08FA8E9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338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비용·통제·오류 전파를 함께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370E8-50AA-4CC4-BE5F-574B9718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완료 신호  |  구조 선택의 이유를 말하기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1D1A1-7A71-440C-A7A4-44BB2A9F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1435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3C794-16F2-411B-B844-6AF1817F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7162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B7E7B-17D9-4CEA-B020-E8E72BF8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Agent 프레임워크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543D1-E6FA-4397-8604-71FFA0E1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74"/>
                </a:solidFill>
              </a:defRPr>
            </a:pPr>
            <a:r>
              <a:rPr sz="1650" b="0">
                <a:solidFill>
                  <a:srgbClr val="536174"/>
                </a:solidFill>
              </a:rPr>
              <a:t>같은 미션을 서로 다른 추상화로 구현합니다.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814D4-556A-4C3C-9D24-C196EC3F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</a:defRPr>
            </a:pPr>
            <a:r>
              <a:rPr sz="1500" b="1">
                <a:solidFill>
                  <a:srgbClr val="15803D"/>
                </a:solidFill>
              </a:rPr>
              <a:t>핵심 관찰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6F7416-DFB2-42A0-8407-EFE26D6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51C97-CE12-4129-B056-0F452C84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smolagents·LangGraph 비교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4301D1-5F33-4BB0-BA49-56FE4C31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338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2E723-E748-47F8-A416-5BDEC5B8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338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권한·로그·실패 복구 관점으로 평가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DDB87-6FFD-49BE-8FC1-999B3AC5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95875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완료 신호  |  프레임워크별 장단점 기록</a:t>
            </a:r>
          </a:p>
        </p:txBody>
      </p:sp>
    </p:spTree>
    <p:extLst>
      <p:ext uri="{BB962C8B-B14F-4D97-AF65-F5344CB8AC3E}">
        <p14:creationId xmlns:p14="http://schemas.microsoft.com/office/powerpoint/2010/main" val="693996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82652-FFFC-43AF-B99B-A5E6AD1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07과 08: 안전장치를 넣고 전체를 통합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EB46B-3F14-43BF-ACB2-6B8471B2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A1ED3-4791-45D1-88CF-8C2ADB3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FC98B-E825-4F0F-A11C-610B1AE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240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E9DAE-503B-4ABF-8878-D8B8A53C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07  가드레일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1BB71-AC08-4D39-B125-5486EDCD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</a:defRPr>
            </a:pPr>
            <a:r>
              <a:rPr sz="1575" b="0">
                <a:solidFill>
                  <a:srgbClr val="536174"/>
                </a:solidFill>
              </a:rPr>
              <a:t>입력부터 출력까지 어디를 방어해야 할까요?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7124C-E82A-4A82-A311-9ABE3431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B0E1D-0B9D-4926-B6C6-04FA9CDF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규칙 기반과 모델 기반 검사 조합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736F3-38D0-4145-812E-076CFDF7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98C3D-BB94-4E91-BA1E-47CC4946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오탐·미탐과 사용자 경험 평가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575D1-0300-424C-9562-7D34F8A4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완료 신호  |  차단 사유와 지표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49056-0A34-4AEB-ACA5-A7C80ABE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08  실전 멀티에이전트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1559E-00DD-487E-91D9-C8A3BCB3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</a:defRPr>
            </a:pPr>
            <a:r>
              <a:rPr sz="1575" b="0">
                <a:solidFill>
                  <a:srgbClr val="536174"/>
                </a:solidFill>
              </a:rPr>
              <a:t>앞의 부품을 금융 리서치 흐름으로 묶습니다.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D01A9-EC27-4C61-BEE2-DBB91D3C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97BB6-EDFA-4035-A9E4-9932E40E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RAG·도구·Manager–Worker 통합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D3074-85A6-428B-A5FC-3075D9C3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B7C94-9F6D-48A4-9244-187C099D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RBAC·감사 로그·가드레일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B4A38-0AE0-460B-9BE4-0CE908BA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완료 신호  |  전체 실행 경로 추적</a:t>
            </a:r>
          </a:p>
        </p:txBody>
      </p:sp>
    </p:spTree>
    <p:extLst>
      <p:ext uri="{BB962C8B-B14F-4D97-AF65-F5344CB8AC3E}">
        <p14:creationId xmlns:p14="http://schemas.microsoft.com/office/powerpoint/2010/main" val="1616913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B46FBC-5CD2-41FF-AA9A-4D7DB7EB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최종 시스템은 이 흐름으로 움직입니다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7AF31-4F2E-4E0D-A8D3-1C7E4663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79156-3385-442B-B97A-AC343DC3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74781-0869-482F-AA3D-8E32FE82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765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ADF7E-7D92-47C3-920E-E26C3331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25"/>
            <a:ext cx="1619250" cy="1809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5AA74-FE77-4010-B6B4-624C2D16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381250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사용자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71D2C-A3A1-4502-ADCB-452D79F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956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74"/>
                </a:solidFill>
              </a:defRPr>
            </a:pPr>
            <a:r>
              <a:rPr sz="1350" b="0">
                <a:solidFill>
                  <a:srgbClr val="536174"/>
                </a:solidFill>
              </a:rPr>
              <a:t>입력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7E3D5-F867-481F-8B29-50C1EA93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765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281C6-41E5-4D60-9659-0CDE9230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1619250" cy="1809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31C4E-9A6F-41C2-9411-B78F286E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0194B-E807-46ED-A701-A409EBB5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956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74"/>
                </a:solidFill>
              </a:defRPr>
            </a:pPr>
            <a:r>
              <a:rPr sz="1350" b="0">
                <a:solidFill>
                  <a:srgbClr val="536174"/>
                </a:solidFill>
              </a:rPr>
              <a:t>작업 분해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58467-A985-4637-AD41-74EB875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765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7F05F-692F-4D3E-94AA-82FE7AE6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1619250" cy="1809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DBF59-AE69-4D48-B1E5-315FBC07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81250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9D328-C43D-40B2-90C5-83E33B9B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956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74"/>
                </a:solidFill>
              </a:defRPr>
            </a:pPr>
            <a:r>
              <a:rPr sz="1350" b="0">
                <a:solidFill>
                  <a:srgbClr val="536174"/>
                </a:solidFill>
              </a:rPr>
              <a:t>RAG·웹·도구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8D7F1-6D75-4640-A8A1-5B047616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765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A7778-CED1-4F98-84A7-F7A80C92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1619250" cy="1809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B5653-CB43-479D-B9F0-D45DA876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결과 취합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163D7-7E73-4080-8530-25F7FE5F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74"/>
                </a:solidFill>
              </a:defRPr>
            </a:pPr>
            <a:r>
              <a:rPr sz="1350" b="0">
                <a:solidFill>
                  <a:srgbClr val="536174"/>
                </a:solidFill>
              </a:rPr>
              <a:t>근거·중복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21304-8B61-4B00-97DB-E50E199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8765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A5D3B-5175-4B3C-9D8E-CDE1CAE8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1619250" cy="1809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6CBF2-96C0-4777-B86B-9FF415EA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81250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출력 가드레일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ABA4A-DF18-462F-812D-23FFC504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956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74"/>
                </a:solidFill>
              </a:defRPr>
            </a:pPr>
            <a:r>
              <a:rPr sz="1350" b="0">
                <a:solidFill>
                  <a:srgbClr val="536174"/>
                </a:solidFill>
              </a:rPr>
              <a:t>정책·개인정보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E8EBC-0C5F-4855-9318-64C51912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43125"/>
            <a:ext cx="1619250" cy="1809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7FF6FC-164B-4B12-8295-8527EB02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81250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답변 + 로그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99BA40-8007-4FB6-9632-8A84CE89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956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74"/>
                </a:solidFill>
              </a:defRPr>
            </a:pPr>
            <a:r>
              <a:rPr sz="1350" b="0">
                <a:solidFill>
                  <a:srgbClr val="536174"/>
                </a:solidFill>
              </a:rPr>
              <a:t>추적 가능성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32B0CB-F634-4BD9-BFE9-C0D09DE9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91C1C"/>
                </a:solidFill>
              </a:defRPr>
            </a:pPr>
            <a:r>
              <a:rPr sz="1725" b="1">
                <a:solidFill>
                  <a:srgbClr val="B91C1C"/>
                </a:solidFill>
              </a:rPr>
              <a:t>07 가드레일은 마지막 상자만이 아니라 입력·도구·검색 문서·로그 전체에 적용합니다.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89B1EB-8305-48EC-A362-1AC93A9A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19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174"/>
                </a:solidFill>
              </a:defRPr>
            </a:pPr>
            <a:r>
              <a:rPr sz="1500" b="0">
                <a:solidFill>
                  <a:srgbClr val="536174"/>
                </a:solidFill>
              </a:rPr>
              <a:t>08에서 이 경로를 코드와 로그로 한 번에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289284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5C59E-291A-489D-8A43-C1D4B46B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실습은 ‘예상 → 실행 → 관찰 → 설명’ 순서로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601A4-1915-4316-B227-6A3DC34C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E0862-8EA6-4F50-866D-0D25B7D8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80C3B-29DA-4E1C-B70E-1C1F296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02ADA-8225-4AA1-87F0-B187CD86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1. 셀 제목과 설명을 먼저 읽기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FC2DB-70B6-475E-A444-7E2C3034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71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4FFC3-C9F4-4E91-B0D6-77393D86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193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2. 출력값을 실행 전에 예상하기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BA396-9831-4151-8F52-44F67DF5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1465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690CB-8610-411C-8536-4EE2C7D8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622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3. 위에서 아래로 한 셀씩 실행하기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A00F2-D143-43AE-9ABF-0CCA28C7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3C9FB-F3C9-4F97-9EDE-1368F8AC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052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4. 로그·중간값·오류 위치 확인하기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AEAC1-E38F-4B98-BF07-A9ABF484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0055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D23B2-6444-4B7F-B712-F41A01CB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481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5. 설정 하나만 바꾸어 다시 실행하기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36B32-207B-4CDA-A4B6-F78FDD5D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76D98-4F58-4FC8-B3F6-7EB77848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911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6. 결과가 달라진 이유를 말로 적기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6A6B7-8A35-42CD-AC65-FD68FA54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48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803D"/>
                </a:solidFill>
              </a:defRPr>
            </a:pPr>
            <a:r>
              <a:rPr sz="1500" b="1">
                <a:solidFill>
                  <a:srgbClr val="15803D"/>
                </a:solidFill>
              </a:rPr>
              <a:t>정답 화면을 얻는 것보다, 실행 경로를 설명할 수 있는지가 더 중요합니다.</a:t>
            </a:r>
          </a:p>
        </p:txBody>
      </p:sp>
    </p:spTree>
    <p:extLst>
      <p:ext uri="{BB962C8B-B14F-4D97-AF65-F5344CB8AC3E}">
        <p14:creationId xmlns:p14="http://schemas.microsoft.com/office/powerpoint/2010/main" val="13642220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63219-D2DB-4992-BD84-B1B37858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막혔을 때는 원인을 세 갈래로 나눠 보세요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13930-2BA7-4AC3-AF03-A05BA75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99931-E7F3-47AE-8997-000DE6EC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62BBD-3369-4209-A8A8-D6F1EEC2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381375" cy="381000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13789-CC7D-4003-A528-49FCE07C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63EB"/>
                </a:solidFill>
              </a:defRPr>
            </a:pPr>
            <a:r>
              <a:rPr sz="2175" b="1">
                <a:solidFill>
                  <a:srgbClr val="2563EB"/>
                </a:solidFill>
              </a:rPr>
              <a:t>환경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CC949-56FB-42E8-8AE4-070F967A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112DD-D2AC-4A0C-9F75-DC2DB2FF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패키지 설치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2DAF5-8945-473A-BBBA-C012D56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64C08-E027-4C46-9311-467D910C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런타임 재시작 여부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66463-83D0-4617-9CBD-65AB461E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07563-E7DB-4EB9-84E7-8C0457E2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CPU·메모리·디스크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1DB1A-7BD1-44AC-93E8-27637AEC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381375" cy="381000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D9763-999A-46AD-A5BD-8CDBC268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45309"/>
                </a:solidFill>
              </a:defRPr>
            </a:pPr>
            <a:r>
              <a:rPr sz="2175" b="1">
                <a:solidFill>
                  <a:srgbClr val="B45309"/>
                </a:solidFill>
              </a:rPr>
              <a:t>외부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83557-FF87-4D9A-859D-26009747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193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D7400-C8B0-4AD8-BDD1-B55A183C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1937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API 키와 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A13E3-F7EB-40C3-8D38-58CD9344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45D19-4F33-4C83-B76B-C163CBFB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33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네트워크·모델 다운로드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7812B-04E4-4023-9CF8-E5D115DB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481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D16E5-5733-4BEC-896F-85826D6B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조회 시점·비용 제한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6F240-08FE-42F8-B698-102F4F50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381375" cy="381000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1C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BC5432-4743-49F1-A761-DF29FD09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91C1C"/>
                </a:solidFill>
              </a:defRPr>
            </a:pPr>
            <a:r>
              <a:rPr sz="2175" b="1">
                <a:solidFill>
                  <a:srgbClr val="B91C1C"/>
                </a:solidFill>
              </a:rPr>
              <a:t>코드 흐름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F197D-174B-432D-86A2-7A65D316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68FF9-BEF7-4C50-8E44-235CBFA0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셀 실행 순서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DE9510-C074-43BC-9566-3184E1E6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87F75A-3893-41D3-864B-F361BC0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변수·파일 생성 여부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CD0D7-FAE9-4269-9967-34F75DDC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2BC00-36D5-4DA0-8246-C2228094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481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입력 형식과 오류 메시지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0CB56-E334-4DBF-A805-7BD3245C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5787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174"/>
                </a:solidFill>
              </a:defRPr>
            </a:pPr>
            <a:r>
              <a:rPr sz="1500" b="0">
                <a:solidFill>
                  <a:srgbClr val="536174"/>
                </a:solidFill>
              </a:rPr>
              <a:t>오류 메시지의 첫 줄과 마지막 줄, 그리고 바로 앞 셀의 출력을 함께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1861604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A18C7-D6E8-46BC-8025-3FC1806F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완료 기준: 결과보다 ‘왜’를 설명할 수 있나요?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65452-728D-4F35-84B6-F1DD2CE5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9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90E89-0D93-4818-9880-B44F4D53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9131-D6DD-43D1-A2E6-474045C8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89C33-EA4F-4379-A361-D6AC1641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240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입력이 어떤 단계를 거쳐 출력으로 바뀌었나요?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10236-9A08-4E5F-85C1-97BFB473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4880E-1712-4D87-BB2C-0B53F4C5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14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결과를 바꾸는 설정값이나 외부 요인은 무엇인가요?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71F94-ABE0-47EE-9F3C-C9D86D3C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DE18D-9667-41E1-8420-9117C7DE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05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운영 환경이라면 어떤 검증·예외 처리·로그가 더 필요한가요?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CF02B-4166-4752-80EE-1F0BFB1F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14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08B5A-7F4E-471A-9FA7-CD568A6A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다음 행동  |  01번 노트북을 열고 첫 출력값을 실행 전에 예상해 보세요.</a:t>
            </a:r>
          </a:p>
        </p:txBody>
      </p:sp>
    </p:spTree>
    <p:extLst>
      <p:ext uri="{BB962C8B-B14F-4D97-AF65-F5344CB8AC3E}">
        <p14:creationId xmlns:p14="http://schemas.microsoft.com/office/powerpoint/2010/main" val="1493486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2026-08-31T04:53:50.3240000Z</dcterms:created>
  <dcterms:modified xsi:type="dcterms:W3CDTF">2026-08-31T04:53:50.3240000Z</dcterms:modified>
</coreProperties>
</file>